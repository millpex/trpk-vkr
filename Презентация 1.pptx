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E61DD-DC66-4838-B157-18A9F660B1E6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C2562-C510-4E9B-A92E-E7080F62E6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8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A931-6C8B-4405-9A0F-5C538F45B316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29BB-F37F-4C34-B9EE-05A6B61C2BEE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3C5D-1348-4ED3-B70E-CAF1FA58946F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417D-752F-47F3-9BED-7B424171C841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4A5F-E741-4018-B149-DE9D9FBE6BF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CE06-5B16-4E4A-BE75-53543BF6672C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20B7-89A1-44B9-915F-3808C3A7A6CC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B220243-77F7-4700-8C06-FFE2E601ED8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810DB-86B6-4BE5-841C-7988EE0C44F3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4ECB-795D-4CB4-AA6D-7420AD7B751A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8425-1885-4148-BB3C-A23746CBC295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EDEA752-B8B9-4505-B056-834C4BE9585B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C04EA-187A-F8E1-DC79-82EB7B5C4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b="1" dirty="0"/>
              <a:t>Разработка АС для центра сборки персональных компьютеров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0465B7-A88A-784A-E867-D6F71660CF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b="1" cap="none" dirty="0">
                <a:latin typeface="+mn-lt"/>
                <a:cs typeface="Arial" panose="020B0604020202020204" pitchFamily="34" charset="0"/>
              </a:rPr>
              <a:t>Доможиров Михаил АСУб-22-2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t>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346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FCA27-F7B6-BE86-3899-E534222DE6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8421" y="0"/>
            <a:ext cx="10058400" cy="1449387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Введение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F117439-9AA0-4A2C-2B73-AF4BB5FE5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803" y="1576550"/>
            <a:ext cx="5351897" cy="424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8C0F4E0-DCAD-C5C5-3A33-ACA26EBB5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46" y="1610544"/>
            <a:ext cx="5797652" cy="417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0022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AC753BA-45AC-252D-B6C2-7B4AFE3E2E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3687" y="0"/>
            <a:ext cx="10058400" cy="1450975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Проблематика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EA49C-65F6-AF7C-12AF-91E2978CBC67}"/>
              </a:ext>
            </a:extLst>
          </p:cNvPr>
          <p:cNvSpPr txBox="1"/>
          <p:nvPr/>
        </p:nvSpPr>
        <p:spPr>
          <a:xfrm>
            <a:off x="514728" y="1887962"/>
            <a:ext cx="6635813" cy="309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Управление процессами с помощью универсальных инструментов, таких как электронные таблицы (Excel) или разрозненных учетных систем, быстро становится неэффективным. Это приводит </a:t>
            </a:r>
            <a:r>
              <a:rPr lang="ru-RU" u="sng" dirty="0"/>
              <a:t>к ряду серьезных проблем:</a:t>
            </a:r>
          </a:p>
          <a:p>
            <a:endParaRPr lang="ru-R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dirty="0"/>
              <a:t>Низкая оперативность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dirty="0"/>
              <a:t>Разрозненность информации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dirty="0"/>
              <a:t>Сложность учета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dirty="0"/>
              <a:t>Отсутствие прозрачности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E84573-273B-6D3F-BD9F-DBE02A5B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849" y="725487"/>
            <a:ext cx="4876800" cy="48768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398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A5BA8-922B-3F13-2C4C-1FB2E9BA0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4635" y="-199176"/>
            <a:ext cx="10058400" cy="1450975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Цель и задачи проекта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42115-3677-6A61-2EC1-3D0C8D4BE8D0}"/>
              </a:ext>
            </a:extLst>
          </p:cNvPr>
          <p:cNvSpPr txBox="1"/>
          <p:nvPr/>
        </p:nvSpPr>
        <p:spPr>
          <a:xfrm>
            <a:off x="784635" y="1450268"/>
            <a:ext cx="9611006" cy="461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Цель проекта – </a:t>
            </a: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разработать функциональный прототип автоматизированной системы (конфигурации) на базе платформы 1С:Предприятие, предназначенной для комплексного управления бизнес-процессами центра сборки персональных компьютеров.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Задачи для достижения цели:</a:t>
            </a:r>
            <a:endParaRPr lang="ru-R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Провести анализ предметной области и формализовать ключевые бизнес-процессы центра сборки ПК.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Разработать логическую и физическую структуру информационной базы системы.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Автоматизировать процесс оформления заказа клиента.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Реализовать базовый механизм складского учета, обеспечивающий резервирование комплектующих под заказы и отражение их движения.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Разработать основные отчеты для анализа деятельности.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Протестировать готовую систему на работоспособность и устранить выявленные ошибки.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4945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C63EC-1268-3892-F731-D665AF7952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4634" y="0"/>
            <a:ext cx="10058400" cy="1449387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Целевая аудитория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82CFAF9-C14E-B12F-0576-0F773913B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827052"/>
              </p:ext>
            </p:extLst>
          </p:nvPr>
        </p:nvGraphicFramePr>
        <p:xfrm>
          <a:off x="467762" y="1737474"/>
          <a:ext cx="11256475" cy="41471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8812">
                  <a:extLst>
                    <a:ext uri="{9D8B030D-6E8A-4147-A177-3AD203B41FA5}">
                      <a16:colId xmlns:a16="http://schemas.microsoft.com/office/drawing/2014/main" val="3694917484"/>
                    </a:ext>
                  </a:extLst>
                </a:gridCol>
                <a:gridCol w="4640403">
                  <a:extLst>
                    <a:ext uri="{9D8B030D-6E8A-4147-A177-3AD203B41FA5}">
                      <a16:colId xmlns:a16="http://schemas.microsoft.com/office/drawing/2014/main" val="727134952"/>
                    </a:ext>
                  </a:extLst>
                </a:gridCol>
                <a:gridCol w="4277260">
                  <a:extLst>
                    <a:ext uri="{9D8B030D-6E8A-4147-A177-3AD203B41FA5}">
                      <a16:colId xmlns:a16="http://schemas.microsoft.com/office/drawing/2014/main" val="1537445769"/>
                    </a:ext>
                  </a:extLst>
                </a:gridCol>
              </a:tblGrid>
              <a:tr h="782141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dirty="0">
                          <a:solidFill>
                            <a:schemeClr val="tx1"/>
                          </a:solidFill>
                        </a:rPr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dirty="0">
                          <a:solidFill>
                            <a:schemeClr val="tx1"/>
                          </a:solidFill>
                        </a:rPr>
                        <a:t>Проблемы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dirty="0">
                          <a:solidFill>
                            <a:schemeClr val="tx1"/>
                          </a:solidFill>
                        </a:rPr>
                        <a:t>Решения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030083"/>
                  </a:ext>
                </a:extLst>
              </a:tr>
              <a:tr h="1617819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Руководитель фирмы по сборке ПК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Нет точной картины по остаткам и движению комплектующих.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Нет прозрачности в работе сотрудников.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Длительный процесс подготовки отчетов для анализа.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ru-RU" sz="1600" b="1" u="non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Даёт точные данные</a:t>
                      </a:r>
                      <a:r>
                        <a:rPr lang="ru-RU" sz="1600" b="0" u="non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 реальном времени о наличии и резерве комплектующих.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b="1" i="0" u="non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Автоматизирует отчетность:</a:t>
                      </a:r>
                      <a:r>
                        <a:rPr lang="ru-RU" sz="1600" b="0" i="0" u="non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одним кликом формируются отчеты по продажам, прибыли за любой период.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Фиксирует действия сотрудников, 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повышая контроль и дисциплину.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2833235754"/>
                  </a:ext>
                </a:extLst>
              </a:tr>
              <a:tr h="1031731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Сотрудники фирмы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Необходимость вручную искать и выписывать комплектующие со склада.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Отсутствие легкого доступа к истории сборок для конкретного клиента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b="1" u="non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Упрощает списание со склада </a:t>
                      </a: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через специальный документ.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Быстрый доступ к истории заказов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клиента для консультации и сервиса.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3048324373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01269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A34A4-547D-6E9B-C139-3E8D6A6DD3E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9366" y="0"/>
            <a:ext cx="10058400" cy="1449387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Функциональные требования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9893D-D61C-029A-57C0-05915B18AEB5}"/>
              </a:ext>
            </a:extLst>
          </p:cNvPr>
          <p:cNvSpPr txBox="1"/>
          <p:nvPr/>
        </p:nvSpPr>
        <p:spPr>
          <a:xfrm>
            <a:off x="491851" y="2055771"/>
            <a:ext cx="6180554" cy="304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§"/>
              <a:tabLst>
                <a:tab pos="2038350" algn="l"/>
                <a:tab pos="2457450" algn="l"/>
              </a:tabLst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Хранение списка созданных сборок компьютеров;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Хранение списка комплектующих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Хранение информации о заказчике сборки;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Хранение информации об авторе сборки;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Возможность регистрировать процесс сборки;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Возможность регистрировать выдачу компьютера заказчику;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ru-R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Создать отчет о всех собранных компьютерах за период;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dirty="0">
                <a:effectLst/>
                <a:ea typeface="Aptos" panose="020B0004020202020204" pitchFamily="34" charset="0"/>
              </a:rPr>
              <a:t>Все объекты необходимо вывести в интерфейс в удобные разделы.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4C1A4E-A572-1407-D450-0904C4758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286" y="1685851"/>
            <a:ext cx="5122313" cy="341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00350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4AB27-C3EA-303D-E77E-DCC956A98A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8917" y="-361950"/>
            <a:ext cx="10058400" cy="1449387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Анализ конкурентов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FCA463C-D677-3E68-DEB7-72082C07A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212610"/>
              </p:ext>
            </p:extLst>
          </p:nvPr>
        </p:nvGraphicFramePr>
        <p:xfrm>
          <a:off x="206216" y="1304738"/>
          <a:ext cx="11779568" cy="4869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40633">
                  <a:extLst>
                    <a:ext uri="{9D8B030D-6E8A-4147-A177-3AD203B41FA5}">
                      <a16:colId xmlns:a16="http://schemas.microsoft.com/office/drawing/2014/main" val="68785430"/>
                    </a:ext>
                  </a:extLst>
                </a:gridCol>
                <a:gridCol w="4771610">
                  <a:extLst>
                    <a:ext uri="{9D8B030D-6E8A-4147-A177-3AD203B41FA5}">
                      <a16:colId xmlns:a16="http://schemas.microsoft.com/office/drawing/2014/main" val="2688571497"/>
                    </a:ext>
                  </a:extLst>
                </a:gridCol>
                <a:gridCol w="5267325">
                  <a:extLst>
                    <a:ext uri="{9D8B030D-6E8A-4147-A177-3AD203B41FA5}">
                      <a16:colId xmlns:a16="http://schemas.microsoft.com/office/drawing/2014/main" val="4055563801"/>
                    </a:ext>
                  </a:extLst>
                </a:gridCol>
              </a:tblGrid>
              <a:tr h="623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+mn-lt"/>
                        </a:rPr>
                        <a:t>                      Сервис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+mn-lt"/>
                        </a:rPr>
                        <a:t> Критерии</a:t>
                      </a:r>
                      <a:endParaRPr lang="ru-RU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83" marR="27283"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effectLst/>
                          <a:latin typeface="+mn-lt"/>
                        </a:rPr>
                        <a:t>Gincore</a:t>
                      </a:r>
                      <a:endParaRPr lang="ru-RU" sz="1600" b="1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 err="1">
                          <a:effectLst/>
                          <a:latin typeface="+mn-lt"/>
                        </a:rPr>
                        <a:t>РемОнлайн</a:t>
                      </a:r>
                      <a:endParaRPr lang="ru-RU" sz="1600" b="1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83" marR="27283" marT="0" marB="0"/>
                </a:tc>
                <a:extLst>
                  <a:ext uri="{0D108BD9-81ED-4DB2-BD59-A6C34878D82A}">
                    <a16:rowId xmlns:a16="http://schemas.microsoft.com/office/drawing/2014/main" val="1354450919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1) Управление заказами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Подробная карточка заказа с историей, статусами, комплектующими, работами, предоплатами.</a:t>
                      </a:r>
                      <a:endParaRPr lang="ru-RU" sz="1100" kern="100" baseline="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00" baseline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Упрощенная, но эффективная карточка заказа с этапами, связью с клиентом и учетом запчастей.</a:t>
                      </a:r>
                      <a:endParaRPr lang="ru-RU" sz="1400" kern="100" baseline="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83" marR="27283" marT="0" marB="0"/>
                </a:tc>
                <a:extLst>
                  <a:ext uri="{0D108BD9-81ED-4DB2-BD59-A6C34878D82A}">
                    <a16:rowId xmlns:a16="http://schemas.microsoft.com/office/drawing/2014/main" val="672037547"/>
                  </a:ext>
                </a:extLst>
              </a:tr>
              <a:tr h="7047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2) Учет клиентов 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Полноценная CRM с историей обращений, полными данными, сегментацией и инструментами для маркетинга (СМС/</a:t>
                      </a:r>
                      <a:r>
                        <a:rPr lang="ru-RU" sz="14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ru-RU" sz="14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-рассылки).</a:t>
                      </a:r>
                      <a:endParaRPr lang="ru-RU" sz="1100" kern="100" baseline="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00" baseline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База клиентов с привязкой к заказам, историей обращений и онлайн-чатом для коммуникации.</a:t>
                      </a:r>
                      <a:endParaRPr lang="ru-RU" sz="1400" kern="100" baseline="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83" marR="27283" marT="0" marB="0"/>
                </a:tc>
                <a:extLst>
                  <a:ext uri="{0D108BD9-81ED-4DB2-BD59-A6C34878D82A}">
                    <a16:rowId xmlns:a16="http://schemas.microsoft.com/office/drawing/2014/main" val="3329382054"/>
                  </a:ext>
                </a:extLst>
              </a:tr>
              <a:tr h="711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3) Складской учет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u="none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Полнофункциональный складской учет.</a:t>
                      </a:r>
                      <a:r>
                        <a:rPr lang="ru-RU" sz="140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Оприходование, списание, инвентаризация, резерв под заказы, контроль остатков.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u="none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Учет остатков запчастей.</a:t>
                      </a:r>
                      <a:r>
                        <a:rPr lang="ru-RU" sz="1400" b="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Можно привязать запчасть к заказу и уменьшить остаток, но без глубокой складской аналитики.</a:t>
                      </a:r>
                    </a:p>
                  </a:txBody>
                  <a:tcPr marL="27283" marR="27283" marT="0" marB="0"/>
                </a:tc>
                <a:extLst>
                  <a:ext uri="{0D108BD9-81ED-4DB2-BD59-A6C34878D82A}">
                    <a16:rowId xmlns:a16="http://schemas.microsoft.com/office/drawing/2014/main" val="1684162386"/>
                  </a:ext>
                </a:extLst>
              </a:tr>
              <a:tr h="711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4) Финансы и аналитика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Мощная система:</a:t>
                      </a:r>
                      <a:r>
                        <a:rPr lang="ru-RU" sz="1400" b="1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отчеты по прибыли, движению денег, зарплате сотрудников, маржинальности. Кассовая дисциплина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Базовые отчеты:</a:t>
                      </a:r>
                      <a:r>
                        <a:rPr lang="ru-RU" sz="140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по выручке, заказам, мастерам. Без глубокой финансовой аналитики и кассы.</a:t>
                      </a:r>
                    </a:p>
                  </a:txBody>
                  <a:tcPr marL="27283" marR="27283" marT="0" marB="0"/>
                </a:tc>
                <a:extLst>
                  <a:ext uri="{0D108BD9-81ED-4DB2-BD59-A6C34878D82A}">
                    <a16:rowId xmlns:a16="http://schemas.microsoft.com/office/drawing/2014/main" val="3441425176"/>
                  </a:ext>
                </a:extLst>
              </a:tr>
              <a:tr h="14378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5) Общая оценка интерфейса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Интерфейс производит впечатление современного и «тяжеловесного» ERP-решения. Он кажется перегруженным элементами управления, что может отпугнуть пользователей. Основной акцент сделан на функциональность, а не на простоту освоения.</a:t>
                      </a:r>
                    </a:p>
                  </a:txBody>
                  <a:tcPr marL="27283" marR="27283" marT="0" marB="0"/>
                </a:tc>
                <a:tc>
                  <a:txBody>
                    <a:bodyPr/>
                    <a:lstStyle/>
                    <a:p>
                      <a:pPr marL="285750" lvl="0" indent="-2160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00" baseline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Интерфейс выглядит более легким, современным и интуитивно понятным. Четкое разделение на блоки и модули визуально упрощает навигацию. Создан с расчетом на быстрое внедрение и минимальное обучение.</a:t>
                      </a:r>
                    </a:p>
                  </a:txBody>
                  <a:tcPr marL="27283" marR="27283" marT="0" marB="0"/>
                </a:tc>
                <a:extLst>
                  <a:ext uri="{0D108BD9-81ED-4DB2-BD59-A6C34878D82A}">
                    <a16:rowId xmlns:a16="http://schemas.microsoft.com/office/drawing/2014/main" val="2171688456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76830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45B224E-B50E-E597-F779-88DD28408C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2950" y="-352425"/>
            <a:ext cx="10058400" cy="144938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Процесс AS IS vs TO BE</a:t>
            </a:r>
            <a:endParaRPr lang="ru-RU" b="1" dirty="0">
              <a:solidFill>
                <a:schemeClr val="tx1"/>
              </a:solidFill>
            </a:endParaRPr>
          </a:p>
        </p:txBody>
      </p:sp>
      <p:pic>
        <p:nvPicPr>
          <p:cNvPr id="7" name="Рисунок 6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4FA9C0-E151-F037-9A91-466DE61FC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311" y="1220786"/>
            <a:ext cx="8031378" cy="4913313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1195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7A6DF-E9CC-A424-6002-FA009396BFE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3900" y="-352425"/>
            <a:ext cx="10058400" cy="1449387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Варианты использования</a:t>
            </a:r>
          </a:p>
        </p:txBody>
      </p:sp>
      <p:pic>
        <p:nvPicPr>
          <p:cNvPr id="3" name="Рисунок 2" descr="Изображение выглядит как текст, диаграмма, линия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9C6D3B-A80B-BB7D-3168-BA65BABBD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652" y="1205703"/>
            <a:ext cx="6794218" cy="5042697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44C57C-27AC-7FA7-5177-657DF49BD68A}"/>
              </a:ext>
            </a:extLst>
          </p:cNvPr>
          <p:cNvSpPr/>
          <p:nvPr/>
        </p:nvSpPr>
        <p:spPr>
          <a:xfrm>
            <a:off x="7029450" y="1205703"/>
            <a:ext cx="2273420" cy="135652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pPr/>
              <a:t>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4375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C04EA-187A-F8E1-DC79-82EB7B5C4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b="1" dirty="0"/>
              <a:t>Разработка АС для центра сборки персональных компьютеров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0465B7-A88A-784A-E867-D6F71660CF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b="1" cap="none" dirty="0">
                <a:latin typeface="+mn-lt"/>
                <a:cs typeface="Arial" panose="020B0604020202020204" pitchFamily="34" charset="0"/>
              </a:rPr>
              <a:t>Доможиров Михаил АСУб-22-2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1200" smtClean="0"/>
              <a:t>10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637416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177</TotalTime>
  <Words>564</Words>
  <Application>Microsoft Office PowerPoint</Application>
  <PresentationFormat>Широкоэкранный</PresentationFormat>
  <Paragraphs>78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Symbol</vt:lpstr>
      <vt:lpstr>Times New Roman</vt:lpstr>
      <vt:lpstr>Wingdings</vt:lpstr>
      <vt:lpstr>Ретро</vt:lpstr>
      <vt:lpstr>Разработка АС для центра сборки персональных компьютеров</vt:lpstr>
      <vt:lpstr>Введение</vt:lpstr>
      <vt:lpstr>Проблематика</vt:lpstr>
      <vt:lpstr>Цель и задачи проекта</vt:lpstr>
      <vt:lpstr>Целевая аудитория</vt:lpstr>
      <vt:lpstr>Функциональные требования</vt:lpstr>
      <vt:lpstr>Анализ конкурентов</vt:lpstr>
      <vt:lpstr>Процесс AS IS vs TO BE</vt:lpstr>
      <vt:lpstr>Варианты использования</vt:lpstr>
      <vt:lpstr>Разработка АС для центра сборки персональных компьютеров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АС для центра сборки персональных компьютеров</dc:title>
  <dc:creator>Доможиров Михаил</dc:creator>
  <cp:lastModifiedBy>stud</cp:lastModifiedBy>
  <cp:revision>3</cp:revision>
  <dcterms:created xsi:type="dcterms:W3CDTF">2025-11-21T15:57:33Z</dcterms:created>
  <dcterms:modified xsi:type="dcterms:W3CDTF">2025-11-22T04:09:07Z</dcterms:modified>
</cp:coreProperties>
</file>